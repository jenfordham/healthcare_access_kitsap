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64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491D"/>
    <a:srgbClr val="DE6A73"/>
    <a:srgbClr val="2E7D32"/>
    <a:srgbClr val="797979"/>
    <a:srgbClr val="215924"/>
    <a:srgbClr val="F3F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961" autoAdjust="0"/>
  </p:normalViewPr>
  <p:slideViewPr>
    <p:cSldViewPr snapToGrid="0">
      <p:cViewPr varScale="1">
        <p:scale>
          <a:sx n="76" d="100"/>
          <a:sy n="76" d="100"/>
        </p:scale>
        <p:origin x="1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FC07B-46B5-40A7-B02D-48D2AC2BB88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FF8FE-80C6-42C1-8FD5-896E8BCA2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5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Tthis</a:t>
            </a:r>
            <a:r>
              <a:rPr lang="en-US" dirty="0"/>
              <a:t> project explores healthcare access equity across Kitsap County.</a:t>
            </a:r>
          </a:p>
          <a:p>
            <a:r>
              <a:rPr lang="en-US" dirty="0"/>
              <a:t>The goal was to identify communities where healthcare resource availability may not align with community need using publicly available data.</a:t>
            </a:r>
          </a:p>
          <a:p>
            <a:r>
              <a:rPr lang="en-US" dirty="0"/>
              <a:t>To answer that question, I built an end-to-end analytics workflow in Python, SQLite, and Power BI, culminating in an interactive dashboard for exploring healthcare access by ZIP code.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FF8FE-80C6-42C1-8FD5-896E8BCA23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70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overall analytical workflow.</a:t>
            </a:r>
          </a:p>
          <a:p>
            <a:r>
              <a:rPr lang="en-US" dirty="0"/>
              <a:t>I began by collecting public demographic and healthcare facility data. Using Python, I cleaned and transformed the datasets before storing them in a SQLite database.</a:t>
            </a:r>
          </a:p>
          <a:p>
            <a:r>
              <a:rPr lang="en-US" dirty="0"/>
              <a:t>I then developed a weighted scoring model that combined measures of healthcare supply and community need into a single Healthcare Access Priority Score.</a:t>
            </a:r>
          </a:p>
          <a:p>
            <a:r>
              <a:rPr lang="en-US" dirty="0"/>
              <a:t>Finally, I visualized the results in Power BI to make them easy to explore and interpret.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FF8FE-80C6-42C1-8FD5-896E8BCA23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92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integrates three primary data sources.</a:t>
            </a:r>
          </a:p>
          <a:p>
            <a:r>
              <a:rPr lang="en-US" dirty="0"/>
              <a:t>Census data provided demographic characteristics such as population, income, poverty, insurance coverage, and age.</a:t>
            </a:r>
          </a:p>
          <a:p>
            <a:r>
              <a:rPr lang="en-US" dirty="0"/>
              <a:t>Healthcare facility data identified clinics, hospitals, provider counts, and hospital bed capacity.</a:t>
            </a:r>
          </a:p>
          <a:p>
            <a:r>
              <a:rPr lang="en-US" dirty="0"/>
              <a:t>Geographic boundary files allowed those datasets to be mapped to ZIP Code Tabulation Areas for spatial analysis.</a:t>
            </a:r>
          </a:p>
          <a:p>
            <a:r>
              <a:rPr lang="en-US" dirty="0"/>
              <a:t>In total, the project analyzed 19 communities containing 153 providers and 311 hospital beds.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FF8FE-80C6-42C1-8FD5-896E8BCA23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78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Rather than relying on a single metric, I combined multiple indicators into a weighted scoring model.</a:t>
            </a:r>
          </a:p>
          <a:p>
            <a:r>
              <a:rPr lang="en-US" dirty="0"/>
              <a:t>The Community Need component included poverty rate, uninsured rate, median income, and the proportion of older adults.</a:t>
            </a:r>
          </a:p>
          <a:p>
            <a:r>
              <a:rPr lang="en-US" dirty="0"/>
              <a:t>Healthcare Supply measured provider availability, clinic density, and hospital bed capacity.</a:t>
            </a:r>
          </a:p>
          <a:p>
            <a:r>
              <a:rPr lang="en-US" dirty="0"/>
              <a:t>Together these generated a standardized Healthcare Access Priority Score ranging from 0 to 100, allowing communities to be ranked for further investigation.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FF8FE-80C6-42C1-8FD5-896E8BCA23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47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dashboard provides a county-wide executive summary.</a:t>
            </a:r>
          </a:p>
          <a:p>
            <a:r>
              <a:rPr lang="en-US" dirty="0"/>
              <a:t>At the top are high-level KPIs, followed by a geographic map showing how priority scores vary across Kitsap County and a ranked comparison of all ZIP codes.</a:t>
            </a:r>
          </a:p>
          <a:p>
            <a:r>
              <a:rPr lang="en-US" dirty="0"/>
              <a:t>The purpose of this page is to help decision makers quickly identify where potential access challenges may exist before exploring individual communities in more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FF8FE-80C6-42C1-8FD5-896E8BCA23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11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dashboard page allows users to investigate individual communities.</a:t>
            </a:r>
          </a:p>
          <a:p>
            <a:r>
              <a:rPr lang="en-US" dirty="0"/>
              <a:t>Selecting a ZIP code automatically updates demographic information, healthcare resource metrics, and the community's priority ranking.</a:t>
            </a:r>
          </a:p>
          <a:p>
            <a:r>
              <a:rPr lang="en-US" dirty="0"/>
              <a:t>This transforms the dashboard from a high-level summary into an interactive exploration tool that supports deeper analysis of individual communities.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FF8FE-80C6-42C1-8FD5-896E8BCA23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560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scoring model identified these three communities as the highest priorities for further investigation.</a:t>
            </a:r>
          </a:p>
          <a:p>
            <a:r>
              <a:rPr lang="en-US" dirty="0"/>
              <a:t>What's interesting is that they reached the top for different reasons.</a:t>
            </a:r>
          </a:p>
          <a:p>
            <a:r>
              <a:rPr lang="en-US" dirty="0"/>
              <a:t>West Bremerton is a large population center with relatively limited provider availability.</a:t>
            </a:r>
          </a:p>
          <a:p>
            <a:r>
              <a:rPr lang="en-US" dirty="0"/>
              <a:t>Olalla had no local healthcare facilities identified within the ZIP code despite moderate community need.</a:t>
            </a:r>
          </a:p>
          <a:p>
            <a:r>
              <a:rPr lang="en-US" dirty="0"/>
              <a:t>Brinnon is a small rural community with an older population and no local healthcare facilities identified.</a:t>
            </a:r>
          </a:p>
          <a:p>
            <a:r>
              <a:rPr lang="en-US" dirty="0"/>
              <a:t>These examples illustrate why combining healthcare supply and community need provides a more complete picture than examining either factor alone.</a:t>
            </a:r>
          </a:p>
          <a:p>
            <a:r>
              <a:rPr lang="en-US" dirty="0"/>
              <a:t>While the model highlights communities that may benefit from additional evaluation, further assessment should consider factors such as travel time, provider capacity, transportation access, and other local barriers.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FF8FE-80C6-42C1-8FD5-896E8BCA23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10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taking the time to review my project.</a:t>
            </a:r>
          </a:p>
          <a:p>
            <a:r>
              <a:rPr lang="en-US" dirty="0"/>
              <a:t>This analysis strengthened my skills in data engineering, SQL, geospatial analysis, dashboard development, and communicating analytical findings to a non-technical audience.</a:t>
            </a:r>
          </a:p>
          <a:p>
            <a:r>
              <a:rPr lang="en-US" dirty="0"/>
              <a:t>I'd be happy to answer any questions about the methodology, dashboard, or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FF8FE-80C6-42C1-8FD5-896E8BCA23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85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5058-8E1E-91BF-79A3-B05F89B6D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CBB33-0370-EF08-F721-9106C9124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6FAD4-6784-E458-5561-78072E7D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82B2B-C2C6-44BD-67A5-DDBFED3DF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Healthcare Duplicate MRN Continuous Improvement Analysis • Jen Fordham •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0A322-5065-344A-5E97-50AB1933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3D9A-01FE-4156-9845-2E98CF52E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8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D120D-C13D-659F-94ED-CC9409A8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6CF5F-2DD3-93FD-F567-979717847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27FF3-207B-24AF-9075-116833465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4440" y="6356350"/>
            <a:ext cx="9646920" cy="365125"/>
          </a:xfrm>
        </p:spPr>
        <p:txBody>
          <a:bodyPr/>
          <a:lstStyle/>
          <a:p>
            <a:r>
              <a:rPr lang="en-US" dirty="0"/>
              <a:t>Healthcare Duplicate MRN Continuous Improvement Analysis • Jen Fordham •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9EA37-B855-7F1D-C860-9B50F644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4230" y="6356350"/>
            <a:ext cx="369570" cy="365125"/>
          </a:xfrm>
        </p:spPr>
        <p:txBody>
          <a:bodyPr/>
          <a:lstStyle/>
          <a:p>
            <a:fld id="{A13C3D9A-01FE-4156-9845-2E98CF52E3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5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DC8EA-B0F0-2C40-487B-C81F54F3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84002-B9A4-FEC6-4B6D-F2F27F57D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F5C70-7168-91E9-8372-0676B18B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45AC4-E68D-2FCF-8F5E-0DC8094D3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Healthcare Duplicate MRN Continuous Improvement Analysis • Jen Fordham •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1BCF3-C06B-ABC2-5FC9-EA7CAA89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3D9A-01FE-4156-9845-2E98CF52E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4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F76C6-29BD-E137-ABA1-FE6896CF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BA598-5664-4E8A-3EDE-3DCEAD5E8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E01CC-5F70-4E40-9837-F5A840E2A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FF249-D737-E366-651A-75C87234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AECD8-DC65-6A7A-5085-1166B7FA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Healthcare Duplicate MRN Continuous Improvement Analysis • Jen Fordham •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86BF3-F4A1-D93F-43C0-8C1421206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3D9A-01FE-4156-9845-2E98CF52E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1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C2A8-26D4-1DE7-0D46-E4E1E9BC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27D4B-99BD-CDF0-D476-AB5A6BF08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C3DC7-B62C-0A44-1F2C-2BD4115C6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7ACB0-2E82-389C-5C0A-0B4A064CE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6B350-8025-9D76-DC84-E731A7D2F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CD833-9AED-6545-70E1-E444CA7A5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4276A8-7227-2582-B659-E0AADAED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Healthcare Duplicate MRN Continuous Improvement Analysis • Jen Fordham •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ADB5B2-B7DE-E60B-D4E9-1E56CBE9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3D9A-01FE-4156-9845-2E98CF52E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1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9AC7-6645-692B-7045-00DE6C0D7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B0F36-6B13-FC95-B2C1-65745729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28AD14-1D2D-273F-5CAE-E2FC5F155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Healthcare Duplicate MRN Continuous Improvement Analysis • Jen Fordham •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35415-7355-DF68-90B2-3C519E78F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3D9A-01FE-4156-9845-2E98CF52E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5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F74DC-E568-D5DE-B6AE-691E7A0B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40B2DF-7103-7081-CFBD-F02B83F5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Healthcare Duplicate MRN Continuous Improvement Analysis • Jen Fordham •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E5548-1B16-9A18-A4E9-C0EA176B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3D9A-01FE-4156-9845-2E98CF52E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11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2DC89-1F5B-7281-EA94-B8C19AD51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49CE4-9E3A-B626-4549-54759FAAA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1FC0F-B21F-C9D9-1693-A350B03A8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EF18A-EBB8-9A9F-43AF-7AA4B940E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B5D6C-32AB-28CB-29DD-E14A5403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Healthcare Duplicate MRN Continuous Improvement Analysis • Jen Fordham •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AA302-ED0E-2BF3-4287-79289AA7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3D9A-01FE-4156-9845-2E98CF52E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8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2139-CDF1-1FFF-4D14-19345DA1E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6FCB1-A2C9-62FC-68F6-64E7F7F2D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2CC89-6898-025A-BA6F-4FA9A7B4A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2D5E8-7A77-A14C-B68C-8CECF22F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23C01-1150-643D-378F-B637DBE99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Healthcare Duplicate MRN Continuous Improvement Analysis • Jen Fordham •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20A60-7628-4424-72B3-A75E674B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3D9A-01FE-4156-9845-2E98CF52E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9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C99C-3DA0-C112-6C53-2635C199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3DACE-DA00-8000-5A9F-F8014AF68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972E2-6A02-F672-CBF3-6948882B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712D2-D2AB-0B82-114F-137749EC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Healthcare Duplicate MRN Continuous Improvement Analysis • Jen Fordham •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20EF7-EDE2-602E-A79B-F394C07E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3D9A-01FE-4156-9845-2E98CF52E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7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61B35-6AC4-E134-849A-FC695A1A4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C75AC-9E9F-DC24-3F8F-2A8588505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46C14-0BBA-AA87-1322-C98EE0C5D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529BC-E0EA-8681-0CEB-E3866BC0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Healthcare Duplicate MRN Continuous Improvement Analysis • Jen Fordham •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C444B-9F7D-65C8-52AA-60EE4841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3D9A-01FE-4156-9845-2E98CF52E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70534-5462-E042-E590-BD3A93CE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46BE4-479F-1E4D-1051-9B5CCD504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BF5C5-5A10-B67E-1F53-6B1E8580B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4B58B-DABD-04BB-CDD8-C9893510C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Healthcare Duplicate MRN Continuous Improvement Analysis • Jen Fordham •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32A09-E067-A02C-4AE8-AA3866661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C3D9A-01FE-4156-9845-2E98CF52E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7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6792-00C4-1473-4E85-20CF456E7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756" y="526099"/>
            <a:ext cx="10758488" cy="2387600"/>
          </a:xfrm>
        </p:spPr>
        <p:txBody>
          <a:bodyPr>
            <a:normAutofit/>
          </a:bodyPr>
          <a:lstStyle/>
          <a:p>
            <a:br>
              <a:rPr lang="en-US" sz="4400" dirty="0"/>
            </a:br>
            <a:r>
              <a:rPr lang="en-US" sz="4800" b="1" dirty="0">
                <a:solidFill>
                  <a:srgbClr val="1B491D"/>
                </a:solidFill>
              </a:rPr>
              <a:t>Kitsap County Healthcare Access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07529-CF90-334C-65C5-FDB9BA35F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756" y="3486790"/>
            <a:ext cx="10758488" cy="798512"/>
          </a:xfrm>
        </p:spPr>
        <p:txBody>
          <a:bodyPr>
            <a:normAutofit/>
          </a:bodyPr>
          <a:lstStyle/>
          <a:p>
            <a:r>
              <a:rPr lang="en-US" sz="2200" dirty="0"/>
              <a:t>Identifying communities where healthcare resources may not align with population need.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CC86A-288A-EB7E-07A3-0621200973E2}"/>
              </a:ext>
            </a:extLst>
          </p:cNvPr>
          <p:cNvSpPr txBox="1"/>
          <p:nvPr/>
        </p:nvSpPr>
        <p:spPr>
          <a:xfrm>
            <a:off x="0" y="4929101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Jen Fordham, RHIA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rgbClr val="797979"/>
                </a:solidFill>
              </a:rPr>
              <a:t>Healthcare Analytics Portfolio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July 2026</a:t>
            </a:r>
            <a:endParaRPr lang="en-US" alt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9BEBE4-CB1C-5200-E83C-1BE3FBE65C61}"/>
              </a:ext>
            </a:extLst>
          </p:cNvPr>
          <p:cNvCxnSpPr>
            <a:cxnSpLocks/>
          </p:cNvCxnSpPr>
          <p:nvPr/>
        </p:nvCxnSpPr>
        <p:spPr>
          <a:xfrm>
            <a:off x="1522869" y="3060382"/>
            <a:ext cx="9146262" cy="0"/>
          </a:xfrm>
          <a:prstGeom prst="line">
            <a:avLst/>
          </a:prstGeom>
          <a:ln w="50800">
            <a:solidFill>
              <a:srgbClr val="DE6A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Medical">
            <a:extLst>
              <a:ext uri="{FF2B5EF4-FFF2-40B4-BE49-F238E27FC236}">
                <a16:creationId xmlns:a16="http://schemas.microsoft.com/office/drawing/2014/main" id="{DC4DC4DC-A93B-69D2-680C-13A10E9B9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2425" y="283931"/>
            <a:ext cx="1727150" cy="172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48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D01BE-27D7-A34C-906F-A53D4FABC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4804756"/>
            <a:ext cx="12192000" cy="143471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5924"/>
                </a:solidFill>
              </a:rPr>
              <a:t>Business Question: </a:t>
            </a:r>
            <a:r>
              <a:rPr lang="en-US" sz="2500" dirty="0"/>
              <a:t>Which communities should be prioritized for further investigation?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D128EA-6273-50FC-AA77-314D3B11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505" y="365125"/>
            <a:ext cx="4092991" cy="1325563"/>
          </a:xfrm>
        </p:spPr>
        <p:txBody>
          <a:bodyPr/>
          <a:lstStyle/>
          <a:p>
            <a:r>
              <a:rPr lang="en-US" b="1" dirty="0">
                <a:solidFill>
                  <a:srgbClr val="1B491D"/>
                </a:solidFill>
              </a:rPr>
              <a:t>Project Workflow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8D35102-A6EB-9DAE-EB8A-7171CDC9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Kitsap County Healthcare Access Analysis • Jen Fordham • 2026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CF5678-7B8A-AB6A-5E30-D20C644595B4}"/>
              </a:ext>
            </a:extLst>
          </p:cNvPr>
          <p:cNvCxnSpPr>
            <a:cxnSpLocks/>
          </p:cNvCxnSpPr>
          <p:nvPr/>
        </p:nvCxnSpPr>
        <p:spPr>
          <a:xfrm>
            <a:off x="1338858" y="1538285"/>
            <a:ext cx="9514285" cy="0"/>
          </a:xfrm>
          <a:prstGeom prst="line">
            <a:avLst/>
          </a:prstGeom>
          <a:ln w="50800">
            <a:solidFill>
              <a:srgbClr val="DE6A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Bullseye">
            <a:extLst>
              <a:ext uri="{FF2B5EF4-FFF2-40B4-BE49-F238E27FC236}">
                <a16:creationId xmlns:a16="http://schemas.microsoft.com/office/drawing/2014/main" id="{87E01287-7B26-4A5A-CEF9-6CC4F0FFA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5766" y="572624"/>
            <a:ext cx="822960" cy="82296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26A43D-602A-7FB6-29A8-B92E49394049}"/>
              </a:ext>
            </a:extLst>
          </p:cNvPr>
          <p:cNvSpPr txBox="1">
            <a:spLocks/>
          </p:cNvSpPr>
          <p:nvPr/>
        </p:nvSpPr>
        <p:spPr>
          <a:xfrm>
            <a:off x="482138" y="3595252"/>
            <a:ext cx="11155680" cy="1784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Public Data  </a:t>
            </a:r>
            <a:r>
              <a:rPr lang="en-US" sz="3200" dirty="0">
                <a:solidFill>
                  <a:srgbClr val="797979"/>
                </a:solidFill>
              </a:rPr>
              <a:t>→</a:t>
            </a:r>
            <a:r>
              <a:rPr lang="en-US" sz="3200" dirty="0"/>
              <a:t>  Python  </a:t>
            </a:r>
            <a:r>
              <a:rPr lang="en-US" sz="3200" dirty="0">
                <a:solidFill>
                  <a:srgbClr val="797979"/>
                </a:solidFill>
              </a:rPr>
              <a:t>→</a:t>
            </a:r>
            <a:r>
              <a:rPr lang="en-US" sz="3200" dirty="0"/>
              <a:t>  SQLite  </a:t>
            </a:r>
            <a:r>
              <a:rPr lang="en-US" sz="3200" dirty="0">
                <a:solidFill>
                  <a:srgbClr val="797979"/>
                </a:solidFill>
              </a:rPr>
              <a:t>→</a:t>
            </a:r>
            <a:r>
              <a:rPr lang="en-US" sz="3200" dirty="0"/>
              <a:t>  Scoring Model  </a:t>
            </a:r>
            <a:r>
              <a:rPr lang="en-US" sz="3200" dirty="0">
                <a:solidFill>
                  <a:srgbClr val="797979"/>
                </a:solidFill>
              </a:rPr>
              <a:t>→</a:t>
            </a:r>
            <a:r>
              <a:rPr lang="en-US" sz="3200" dirty="0"/>
              <a:t>  Power BI</a:t>
            </a:r>
          </a:p>
        </p:txBody>
      </p:sp>
      <p:pic>
        <p:nvPicPr>
          <p:cNvPr id="8" name="Graphic 7" descr="Document">
            <a:extLst>
              <a:ext uri="{FF2B5EF4-FFF2-40B4-BE49-F238E27FC236}">
                <a16:creationId xmlns:a16="http://schemas.microsoft.com/office/drawing/2014/main" id="{7ABBAD59-687F-BE96-77B7-FBCE7E06DC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20413" y="2397724"/>
            <a:ext cx="914400" cy="914400"/>
          </a:xfrm>
          <a:prstGeom prst="rect">
            <a:avLst/>
          </a:prstGeom>
        </p:spPr>
      </p:pic>
      <p:pic>
        <p:nvPicPr>
          <p:cNvPr id="17" name="Graphic 16" descr="Database">
            <a:extLst>
              <a:ext uri="{FF2B5EF4-FFF2-40B4-BE49-F238E27FC236}">
                <a16:creationId xmlns:a16="http://schemas.microsoft.com/office/drawing/2014/main" id="{74ADC455-0C1F-2AE3-E8DB-154D813690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27306" y="2395450"/>
            <a:ext cx="914400" cy="914400"/>
          </a:xfrm>
          <a:prstGeom prst="rect">
            <a:avLst/>
          </a:prstGeom>
        </p:spPr>
      </p:pic>
      <p:pic>
        <p:nvPicPr>
          <p:cNvPr id="20" name="Graphic 19" descr="Upward trend">
            <a:extLst>
              <a:ext uri="{FF2B5EF4-FFF2-40B4-BE49-F238E27FC236}">
                <a16:creationId xmlns:a16="http://schemas.microsoft.com/office/drawing/2014/main" id="{FE5C68DD-DF91-70ED-11D6-62B8C76CF3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81317" y="2479268"/>
            <a:ext cx="914400" cy="914400"/>
          </a:xfrm>
          <a:prstGeom prst="rect">
            <a:avLst/>
          </a:prstGeom>
        </p:spPr>
      </p:pic>
      <p:pic>
        <p:nvPicPr>
          <p:cNvPr id="22" name="Graphic 21" descr="Bar chart">
            <a:extLst>
              <a:ext uri="{FF2B5EF4-FFF2-40B4-BE49-F238E27FC236}">
                <a16:creationId xmlns:a16="http://schemas.microsoft.com/office/drawing/2014/main" id="{0D708D8E-0730-36DC-D877-E095D40F40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88749" y="2514600"/>
            <a:ext cx="914400" cy="914400"/>
          </a:xfrm>
          <a:prstGeom prst="rect">
            <a:avLst/>
          </a:prstGeom>
        </p:spPr>
      </p:pic>
      <p:pic>
        <p:nvPicPr>
          <p:cNvPr id="24" name="Graphic 23" descr="Snake">
            <a:extLst>
              <a:ext uri="{FF2B5EF4-FFF2-40B4-BE49-F238E27FC236}">
                <a16:creationId xmlns:a16="http://schemas.microsoft.com/office/drawing/2014/main" id="{975084ED-F912-3126-0456-97E8645ADB0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74188" y="23954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31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FA727D-1086-D15B-03C0-B24ED62E24F7}"/>
              </a:ext>
            </a:extLst>
          </p:cNvPr>
          <p:cNvSpPr/>
          <p:nvPr/>
        </p:nvSpPr>
        <p:spPr>
          <a:xfrm>
            <a:off x="458772" y="1967316"/>
            <a:ext cx="3602151" cy="280418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43E21-12ED-255C-D2A1-CC552A6A6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806" y="365125"/>
            <a:ext cx="3100388" cy="1325563"/>
          </a:xfrm>
        </p:spPr>
        <p:txBody>
          <a:bodyPr/>
          <a:lstStyle/>
          <a:p>
            <a:r>
              <a:rPr lang="en-US" b="1" dirty="0">
                <a:solidFill>
                  <a:srgbClr val="1B491D"/>
                </a:solidFill>
              </a:rPr>
              <a:t>Data Sources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491DC23-729E-02B7-611F-C4CA63A2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Kitsap County Healthcare Access Analysis • Jen Fordham • 2026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6B132F-7207-AEA8-13FE-B359E57A60B5}"/>
              </a:ext>
            </a:extLst>
          </p:cNvPr>
          <p:cNvCxnSpPr>
            <a:cxnSpLocks/>
          </p:cNvCxnSpPr>
          <p:nvPr/>
        </p:nvCxnSpPr>
        <p:spPr>
          <a:xfrm>
            <a:off x="1338858" y="1538285"/>
            <a:ext cx="9514285" cy="0"/>
          </a:xfrm>
          <a:prstGeom prst="line">
            <a:avLst/>
          </a:prstGeom>
          <a:ln w="50800">
            <a:solidFill>
              <a:srgbClr val="DE6A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07AEA8-79E9-C4B8-60D7-6FE7D995D47F}"/>
              </a:ext>
            </a:extLst>
          </p:cNvPr>
          <p:cNvSpPr txBox="1">
            <a:spLocks/>
          </p:cNvSpPr>
          <p:nvPr/>
        </p:nvSpPr>
        <p:spPr>
          <a:xfrm>
            <a:off x="922796" y="2307388"/>
            <a:ext cx="2851182" cy="2276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b="1" dirty="0">
                <a:solidFill>
                  <a:srgbClr val="1B491D"/>
                </a:solidFill>
              </a:rPr>
              <a:t>  Census Data</a:t>
            </a:r>
          </a:p>
          <a:p>
            <a:r>
              <a:rPr lang="en-US" sz="1900" dirty="0"/>
              <a:t>Population</a:t>
            </a:r>
          </a:p>
          <a:p>
            <a:r>
              <a:rPr lang="en-US" sz="1900" dirty="0"/>
              <a:t>Income &amp; Poverty</a:t>
            </a:r>
          </a:p>
          <a:p>
            <a:r>
              <a:rPr lang="en-US" sz="1900" dirty="0"/>
              <a:t>Insurance Coverage</a:t>
            </a:r>
          </a:p>
          <a:p>
            <a:r>
              <a:rPr lang="en-US" sz="1900" dirty="0"/>
              <a:t>Median Age</a:t>
            </a:r>
          </a:p>
        </p:txBody>
      </p:sp>
      <p:pic>
        <p:nvPicPr>
          <p:cNvPr id="5" name="Graphic 4" descr="Document">
            <a:extLst>
              <a:ext uri="{FF2B5EF4-FFF2-40B4-BE49-F238E27FC236}">
                <a16:creationId xmlns:a16="http://schemas.microsoft.com/office/drawing/2014/main" id="{291B2B79-9C1D-3526-29D6-7E96E6E11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2846" y="560960"/>
            <a:ext cx="822960" cy="822960"/>
          </a:xfrm>
          <a:prstGeom prst="rect">
            <a:avLst/>
          </a:prstGeom>
        </p:spPr>
      </p:pic>
      <p:pic>
        <p:nvPicPr>
          <p:cNvPr id="21" name="Graphic 20" descr="Map with pin">
            <a:extLst>
              <a:ext uri="{FF2B5EF4-FFF2-40B4-BE49-F238E27FC236}">
                <a16:creationId xmlns:a16="http://schemas.microsoft.com/office/drawing/2014/main" id="{80109936-4A50-9D86-7897-AA5CAA83D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092" y="2324013"/>
            <a:ext cx="365760" cy="365760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5A478A2-820B-1E0E-D9A3-5AB4110E4E8C}"/>
              </a:ext>
            </a:extLst>
          </p:cNvPr>
          <p:cNvSpPr/>
          <p:nvPr/>
        </p:nvSpPr>
        <p:spPr>
          <a:xfrm>
            <a:off x="4278314" y="1967316"/>
            <a:ext cx="3602151" cy="280418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677B2D5-E0B2-79A0-CA76-3821FAA03932}"/>
              </a:ext>
            </a:extLst>
          </p:cNvPr>
          <p:cNvSpPr txBox="1">
            <a:spLocks/>
          </p:cNvSpPr>
          <p:nvPr/>
        </p:nvSpPr>
        <p:spPr>
          <a:xfrm>
            <a:off x="4659213" y="2307388"/>
            <a:ext cx="3057744" cy="2276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b="1" dirty="0">
                <a:solidFill>
                  <a:srgbClr val="1B491D"/>
                </a:solidFill>
              </a:rPr>
              <a:t>   Healthcare Facilities</a:t>
            </a:r>
          </a:p>
          <a:p>
            <a:r>
              <a:rPr lang="en-US" sz="1900" dirty="0"/>
              <a:t>Primary Care Clinics</a:t>
            </a:r>
          </a:p>
          <a:p>
            <a:r>
              <a:rPr lang="en-US" sz="1900" dirty="0"/>
              <a:t>Hospitals</a:t>
            </a:r>
          </a:p>
          <a:p>
            <a:r>
              <a:rPr lang="en-US" sz="1900" dirty="0"/>
              <a:t>Provider Counts</a:t>
            </a:r>
          </a:p>
          <a:p>
            <a:r>
              <a:rPr lang="en-US" sz="1900" dirty="0"/>
              <a:t>Hospital Beds</a:t>
            </a:r>
          </a:p>
        </p:txBody>
      </p:sp>
      <p:pic>
        <p:nvPicPr>
          <p:cNvPr id="26" name="Graphic 25" descr="Hospital">
            <a:extLst>
              <a:ext uri="{FF2B5EF4-FFF2-40B4-BE49-F238E27FC236}">
                <a16:creationId xmlns:a16="http://schemas.microsoft.com/office/drawing/2014/main" id="{03AE8A44-C7FA-4145-7D4F-CD3D2DDD81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9583" y="2324013"/>
            <a:ext cx="365760" cy="36576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FD123F5-DD1A-CEF8-DD4B-CF9DD4D1BC3D}"/>
              </a:ext>
            </a:extLst>
          </p:cNvPr>
          <p:cNvSpPr/>
          <p:nvPr/>
        </p:nvSpPr>
        <p:spPr>
          <a:xfrm>
            <a:off x="8097856" y="1967316"/>
            <a:ext cx="3602151" cy="280418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C2E1417-803D-AE1C-FC13-DB6594C63395}"/>
              </a:ext>
            </a:extLst>
          </p:cNvPr>
          <p:cNvSpPr txBox="1">
            <a:spLocks/>
          </p:cNvSpPr>
          <p:nvPr/>
        </p:nvSpPr>
        <p:spPr>
          <a:xfrm>
            <a:off x="8478755" y="2307388"/>
            <a:ext cx="3057744" cy="2276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500" b="1" dirty="0">
                <a:solidFill>
                  <a:srgbClr val="1B491D"/>
                </a:solidFill>
              </a:rPr>
              <a:t>  Census ZCTAs</a:t>
            </a:r>
          </a:p>
          <a:p>
            <a:r>
              <a:rPr lang="en-US" sz="1900" dirty="0"/>
              <a:t>Zip Code Tabulation Areas</a:t>
            </a:r>
          </a:p>
          <a:p>
            <a:r>
              <a:rPr lang="en-US" sz="1900" dirty="0"/>
              <a:t>Kitsap County boundaries</a:t>
            </a:r>
          </a:p>
          <a:p>
            <a:r>
              <a:rPr lang="en-US" sz="1900" dirty="0"/>
              <a:t>Geospatial Analysis</a:t>
            </a:r>
          </a:p>
        </p:txBody>
      </p:sp>
      <p:pic>
        <p:nvPicPr>
          <p:cNvPr id="31" name="Graphic 30" descr="Marker">
            <a:extLst>
              <a:ext uri="{FF2B5EF4-FFF2-40B4-BE49-F238E27FC236}">
                <a16:creationId xmlns:a16="http://schemas.microsoft.com/office/drawing/2014/main" id="{A3D812A6-BABA-BCC0-0AB4-EC19AA43FF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31872" y="2324013"/>
            <a:ext cx="365760" cy="36576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8960A08-C444-0B2A-485B-64F3FB2E9913}"/>
              </a:ext>
            </a:extLst>
          </p:cNvPr>
          <p:cNvSpPr txBox="1"/>
          <p:nvPr/>
        </p:nvSpPr>
        <p:spPr>
          <a:xfrm>
            <a:off x="707092" y="5120638"/>
            <a:ext cx="106813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solidFill>
                  <a:srgbClr val="1B491D"/>
                </a:solidFill>
              </a:rPr>
              <a:t>19</a:t>
            </a:r>
            <a:r>
              <a:rPr lang="en-US" sz="2100" dirty="0">
                <a:solidFill>
                  <a:srgbClr val="1B491D"/>
                </a:solidFill>
              </a:rPr>
              <a:t> Communities • </a:t>
            </a:r>
            <a:r>
              <a:rPr lang="en-US" sz="2100" b="1" dirty="0">
                <a:solidFill>
                  <a:srgbClr val="1B491D"/>
                </a:solidFill>
              </a:rPr>
              <a:t>153</a:t>
            </a:r>
            <a:r>
              <a:rPr lang="en-US" sz="2100" dirty="0">
                <a:solidFill>
                  <a:srgbClr val="1B491D"/>
                </a:solidFill>
              </a:rPr>
              <a:t> Providers • </a:t>
            </a:r>
            <a:r>
              <a:rPr lang="en-US" sz="2100" b="1" dirty="0">
                <a:solidFill>
                  <a:srgbClr val="1B491D"/>
                </a:solidFill>
              </a:rPr>
              <a:t>311</a:t>
            </a:r>
            <a:r>
              <a:rPr lang="en-US" sz="2100" dirty="0">
                <a:solidFill>
                  <a:srgbClr val="1B491D"/>
                </a:solidFill>
              </a:rPr>
              <a:t> Hospital Beds</a:t>
            </a:r>
          </a:p>
        </p:txBody>
      </p:sp>
    </p:spTree>
    <p:extLst>
      <p:ext uri="{BB962C8B-B14F-4D97-AF65-F5344CB8AC3E}">
        <p14:creationId xmlns:p14="http://schemas.microsoft.com/office/powerpoint/2010/main" val="4208163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B24F7E-8B16-318B-6A37-9AE421DD4039}"/>
              </a:ext>
            </a:extLst>
          </p:cNvPr>
          <p:cNvSpPr/>
          <p:nvPr/>
        </p:nvSpPr>
        <p:spPr>
          <a:xfrm>
            <a:off x="1557429" y="2304540"/>
            <a:ext cx="4138115" cy="18837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F997EA-C7CC-4707-2884-BE80A892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415" y="365125"/>
            <a:ext cx="7505171" cy="1325563"/>
          </a:xfrm>
        </p:spPr>
        <p:txBody>
          <a:bodyPr/>
          <a:lstStyle/>
          <a:p>
            <a:r>
              <a:rPr lang="en-US" b="1" dirty="0">
                <a:solidFill>
                  <a:srgbClr val="1B491D"/>
                </a:solidFill>
              </a:rPr>
              <a:t>Healthcare Access Priority Model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F4A5AD-850C-B6D0-455A-2E7B3A55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Kitsap County Healthcare Access Analysis • Jen Fordham • 2026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687BBC-E696-56C8-CD6B-A6F9718538CE}"/>
              </a:ext>
            </a:extLst>
          </p:cNvPr>
          <p:cNvSpPr txBox="1">
            <a:spLocks/>
          </p:cNvSpPr>
          <p:nvPr/>
        </p:nvSpPr>
        <p:spPr>
          <a:xfrm>
            <a:off x="1851451" y="2556692"/>
            <a:ext cx="2598935" cy="1544095"/>
          </a:xfrm>
          <a:prstGeom prst="rect">
            <a:avLst/>
          </a:prstGeom>
          <a:effectLst>
            <a:glow rad="127000">
              <a:schemeClr val="bg1">
                <a:lumMod val="85000"/>
              </a:schemeClr>
            </a:glow>
          </a:effec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Poverty Rate</a:t>
            </a:r>
          </a:p>
          <a:p>
            <a:r>
              <a:rPr lang="en-US" sz="1800" dirty="0"/>
              <a:t>Uninsured Rate</a:t>
            </a:r>
          </a:p>
          <a:p>
            <a:r>
              <a:rPr lang="en-US" sz="1800" dirty="0"/>
              <a:t>Median Income</a:t>
            </a:r>
          </a:p>
          <a:p>
            <a:r>
              <a:rPr lang="en-US" sz="1800" dirty="0"/>
              <a:t>Age 65+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DA1D26-BC8E-9A81-5EF0-551AE59C4FFC}"/>
              </a:ext>
            </a:extLst>
          </p:cNvPr>
          <p:cNvCxnSpPr>
            <a:cxnSpLocks/>
          </p:cNvCxnSpPr>
          <p:nvPr/>
        </p:nvCxnSpPr>
        <p:spPr>
          <a:xfrm>
            <a:off x="1338858" y="1538285"/>
            <a:ext cx="9514285" cy="0"/>
          </a:xfrm>
          <a:prstGeom prst="line">
            <a:avLst/>
          </a:prstGeom>
          <a:ln w="50800">
            <a:solidFill>
              <a:srgbClr val="DE6A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Stethoscope">
            <a:extLst>
              <a:ext uri="{FF2B5EF4-FFF2-40B4-BE49-F238E27FC236}">
                <a16:creationId xmlns:a16="http://schemas.microsoft.com/office/drawing/2014/main" id="{843268FD-7451-CBCE-CB23-D0A0EE8D7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9657" y="573518"/>
            <a:ext cx="822960" cy="8229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C6556A6-7F72-83AB-C4F1-D737A4F20EFB}"/>
              </a:ext>
            </a:extLst>
          </p:cNvPr>
          <p:cNvSpPr txBox="1"/>
          <p:nvPr/>
        </p:nvSpPr>
        <p:spPr>
          <a:xfrm>
            <a:off x="1638883" y="1716119"/>
            <a:ext cx="378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91D"/>
                </a:solidFill>
              </a:rPr>
              <a:t> </a:t>
            </a:r>
            <a:r>
              <a:rPr lang="en-US" sz="2800" b="1" dirty="0">
                <a:solidFill>
                  <a:srgbClr val="1B491D"/>
                </a:solidFill>
              </a:rPr>
              <a:t>Community Need</a:t>
            </a:r>
            <a:endParaRPr lang="en-US" sz="28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52D48AE-7C1E-E7D6-9671-71F4E249E085}"/>
              </a:ext>
            </a:extLst>
          </p:cNvPr>
          <p:cNvSpPr/>
          <p:nvPr/>
        </p:nvSpPr>
        <p:spPr>
          <a:xfrm>
            <a:off x="6496456" y="2311924"/>
            <a:ext cx="4138115" cy="188371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11E3860-74B3-EE9E-2906-53F52C7F5EDF}"/>
              </a:ext>
            </a:extLst>
          </p:cNvPr>
          <p:cNvSpPr txBox="1">
            <a:spLocks/>
          </p:cNvSpPr>
          <p:nvPr/>
        </p:nvSpPr>
        <p:spPr>
          <a:xfrm>
            <a:off x="6823730" y="2564076"/>
            <a:ext cx="2598935" cy="1544095"/>
          </a:xfrm>
          <a:prstGeom prst="rect">
            <a:avLst/>
          </a:prstGeom>
          <a:effectLst>
            <a:glow rad="127000">
              <a:schemeClr val="bg1">
                <a:lumMod val="85000"/>
              </a:schemeClr>
            </a:glow>
          </a:effec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Providers per 10k</a:t>
            </a:r>
          </a:p>
          <a:p>
            <a:r>
              <a:rPr lang="en-US" sz="1800" dirty="0"/>
              <a:t>Clinics per 10k</a:t>
            </a:r>
          </a:p>
          <a:p>
            <a:r>
              <a:rPr lang="en-US" sz="1800" dirty="0"/>
              <a:t>Beds per 10k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2D3FCB-BA18-1C1E-C165-54BACFDDAD91}"/>
              </a:ext>
            </a:extLst>
          </p:cNvPr>
          <p:cNvSpPr txBox="1"/>
          <p:nvPr/>
        </p:nvSpPr>
        <p:spPr>
          <a:xfrm>
            <a:off x="6577910" y="1723503"/>
            <a:ext cx="378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91D"/>
                </a:solidFill>
              </a:rPr>
              <a:t> </a:t>
            </a:r>
            <a:r>
              <a:rPr lang="en-US" sz="2800" b="1" dirty="0">
                <a:solidFill>
                  <a:srgbClr val="1B491D"/>
                </a:solidFill>
              </a:rPr>
              <a:t>Healthcare Supply</a:t>
            </a:r>
            <a:endParaRPr lang="en-US" sz="2800" dirty="0"/>
          </a:p>
        </p:txBody>
      </p:sp>
      <p:pic>
        <p:nvPicPr>
          <p:cNvPr id="27" name="Graphic 26" descr="Add">
            <a:extLst>
              <a:ext uri="{FF2B5EF4-FFF2-40B4-BE49-F238E27FC236}">
                <a16:creationId xmlns:a16="http://schemas.microsoft.com/office/drawing/2014/main" id="{B3BB3318-FADB-00C7-E498-FCAAC7E0BA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3120" y="3100478"/>
            <a:ext cx="365760" cy="365760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5B3956C-3F18-F69A-9473-D72F6F01F1AE}"/>
              </a:ext>
            </a:extLst>
          </p:cNvPr>
          <p:cNvSpPr/>
          <p:nvPr/>
        </p:nvSpPr>
        <p:spPr>
          <a:xfrm>
            <a:off x="4784289" y="4651773"/>
            <a:ext cx="2623423" cy="48279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273297-818B-9DA2-D7BA-62AFB47FC280}"/>
              </a:ext>
            </a:extLst>
          </p:cNvPr>
          <p:cNvSpPr txBox="1"/>
          <p:nvPr/>
        </p:nvSpPr>
        <p:spPr>
          <a:xfrm>
            <a:off x="5255692" y="4700680"/>
            <a:ext cx="1680616" cy="370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Scoring Model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7398B27-D38C-F46C-7241-07317D4CC7C1}"/>
              </a:ext>
            </a:extLst>
          </p:cNvPr>
          <p:cNvSpPr/>
          <p:nvPr/>
        </p:nvSpPr>
        <p:spPr>
          <a:xfrm>
            <a:off x="3923504" y="5702298"/>
            <a:ext cx="4344992" cy="48279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977D27-FBA2-D6B5-162F-B007B3C65A57}"/>
              </a:ext>
            </a:extLst>
          </p:cNvPr>
          <p:cNvSpPr txBox="1"/>
          <p:nvPr/>
        </p:nvSpPr>
        <p:spPr>
          <a:xfrm>
            <a:off x="4026943" y="5750712"/>
            <a:ext cx="4138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Healthcare Access Priority Score (0-100)</a:t>
            </a:r>
          </a:p>
        </p:txBody>
      </p:sp>
      <p:pic>
        <p:nvPicPr>
          <p:cNvPr id="38" name="Graphic 37" descr="Cursor">
            <a:extLst>
              <a:ext uri="{FF2B5EF4-FFF2-40B4-BE49-F238E27FC236}">
                <a16:creationId xmlns:a16="http://schemas.microsoft.com/office/drawing/2014/main" id="{D75F93C2-B2CE-D9B4-7651-4962D6F8A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-8100000">
            <a:off x="5864151" y="4158301"/>
            <a:ext cx="457200" cy="457200"/>
          </a:xfrm>
          <a:prstGeom prst="rect">
            <a:avLst/>
          </a:prstGeom>
        </p:spPr>
      </p:pic>
      <p:pic>
        <p:nvPicPr>
          <p:cNvPr id="39" name="Graphic 38" descr="Cursor">
            <a:extLst>
              <a:ext uri="{FF2B5EF4-FFF2-40B4-BE49-F238E27FC236}">
                <a16:creationId xmlns:a16="http://schemas.microsoft.com/office/drawing/2014/main" id="{BC2A08BF-A58D-775D-6246-C2D31570FD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-8100000">
            <a:off x="5864153" y="5214773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52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C302-EC15-DF3C-794C-50B2B57F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714" y="539937"/>
            <a:ext cx="4816573" cy="796410"/>
          </a:xfrm>
        </p:spPr>
        <p:txBody>
          <a:bodyPr/>
          <a:lstStyle/>
          <a:p>
            <a:r>
              <a:rPr lang="en-US" b="1" dirty="0">
                <a:solidFill>
                  <a:srgbClr val="1B491D"/>
                </a:solidFill>
              </a:rPr>
              <a:t>Executive Dashboard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4B339F7-B3E7-8A7D-86B1-4E5DB2C1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Kitsap County Healthcare Access Analysis • Jen Fordham • 2026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32ECCA-48FE-5C13-6659-86322BD5A679}"/>
              </a:ext>
            </a:extLst>
          </p:cNvPr>
          <p:cNvCxnSpPr>
            <a:cxnSpLocks/>
          </p:cNvCxnSpPr>
          <p:nvPr/>
        </p:nvCxnSpPr>
        <p:spPr>
          <a:xfrm>
            <a:off x="1338858" y="1417262"/>
            <a:ext cx="9514285" cy="0"/>
          </a:xfrm>
          <a:prstGeom prst="line">
            <a:avLst/>
          </a:prstGeom>
          <a:ln w="50800">
            <a:solidFill>
              <a:srgbClr val="DE6A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Bar chart">
            <a:extLst>
              <a:ext uri="{FF2B5EF4-FFF2-40B4-BE49-F238E27FC236}">
                <a16:creationId xmlns:a16="http://schemas.microsoft.com/office/drawing/2014/main" id="{B94FBF53-28C1-7602-236F-43DBB4A17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4754" y="513387"/>
            <a:ext cx="822960" cy="822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9D7541-F7DA-5FB0-75B4-D68811F0C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90" y="1623320"/>
            <a:ext cx="11010820" cy="452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65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0D40-2686-7935-6174-CB8FF12E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745" y="330411"/>
            <a:ext cx="5050511" cy="725016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1B491D"/>
                </a:solidFill>
              </a:rPr>
              <a:t>Community Explorer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46EB5D9-DE1A-E53D-A4C8-E7C4DB82E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Kitsap County Healthcare Access Analysis • Jen Fordham • 2026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EED05B-A8B2-42DF-A382-6D7D7792F781}"/>
              </a:ext>
            </a:extLst>
          </p:cNvPr>
          <p:cNvCxnSpPr>
            <a:cxnSpLocks/>
          </p:cNvCxnSpPr>
          <p:nvPr/>
        </p:nvCxnSpPr>
        <p:spPr>
          <a:xfrm>
            <a:off x="1338858" y="1218978"/>
            <a:ext cx="9514285" cy="0"/>
          </a:xfrm>
          <a:prstGeom prst="line">
            <a:avLst/>
          </a:prstGeom>
          <a:ln w="50800">
            <a:solidFill>
              <a:srgbClr val="DE6A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Magnifying glass">
            <a:extLst>
              <a:ext uri="{FF2B5EF4-FFF2-40B4-BE49-F238E27FC236}">
                <a16:creationId xmlns:a16="http://schemas.microsoft.com/office/drawing/2014/main" id="{8AFA245F-1CE3-FB62-4080-261AC0397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3505" y="323907"/>
            <a:ext cx="727240" cy="731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A0F897-6EB1-A1F1-74B0-0EA911CDF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411" y="1408919"/>
            <a:ext cx="10132178" cy="4317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E5B27D-0F53-E28E-51E0-B14914E9F776}"/>
              </a:ext>
            </a:extLst>
          </p:cNvPr>
          <p:cNvSpPr txBox="1"/>
          <p:nvPr/>
        </p:nvSpPr>
        <p:spPr>
          <a:xfrm>
            <a:off x="1124555" y="5885413"/>
            <a:ext cx="994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B491D"/>
                </a:solidFill>
              </a:rPr>
              <a:t>Interactive exploration of healthcare access at the ZIP code level.</a:t>
            </a:r>
          </a:p>
        </p:txBody>
      </p:sp>
    </p:spTree>
    <p:extLst>
      <p:ext uri="{BB962C8B-B14F-4D97-AF65-F5344CB8AC3E}">
        <p14:creationId xmlns:p14="http://schemas.microsoft.com/office/powerpoint/2010/main" val="1829983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E7170E-938E-B95C-86B1-E986572B40F5}"/>
              </a:ext>
            </a:extLst>
          </p:cNvPr>
          <p:cNvSpPr/>
          <p:nvPr/>
        </p:nvSpPr>
        <p:spPr>
          <a:xfrm>
            <a:off x="8037476" y="2546622"/>
            <a:ext cx="3657600" cy="292358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A2C4EE5-811D-C5F3-502C-4B019B78C4CD}"/>
              </a:ext>
            </a:extLst>
          </p:cNvPr>
          <p:cNvSpPr/>
          <p:nvPr/>
        </p:nvSpPr>
        <p:spPr>
          <a:xfrm>
            <a:off x="4281960" y="2546621"/>
            <a:ext cx="3657600" cy="292358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75BD13-3315-F6FE-F413-BFE18C0BAAF6}"/>
              </a:ext>
            </a:extLst>
          </p:cNvPr>
          <p:cNvSpPr/>
          <p:nvPr/>
        </p:nvSpPr>
        <p:spPr>
          <a:xfrm>
            <a:off x="528022" y="2557247"/>
            <a:ext cx="3657600" cy="292358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08AAC-F6A9-5B30-44CA-43414ADA9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2706283"/>
            <a:ext cx="3241388" cy="25835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491D"/>
                </a:solidFill>
              </a:rPr>
              <a:t>98312 (West Bremerton)</a:t>
            </a:r>
          </a:p>
          <a:p>
            <a:pPr marL="0" indent="0">
              <a:buNone/>
            </a:pPr>
            <a:r>
              <a:rPr lang="en-US" sz="1800" dirty="0"/>
              <a:t>Large population with relatively limited provider availability</a:t>
            </a:r>
          </a:p>
          <a:p>
            <a:pPr marL="0" indent="0">
              <a:buNone/>
            </a:pPr>
            <a:r>
              <a:rPr lang="en-US" sz="1700" dirty="0"/>
              <a:t>  • Population: 32,288 </a:t>
            </a:r>
          </a:p>
          <a:p>
            <a:pPr marL="0" indent="0">
              <a:buNone/>
            </a:pPr>
            <a:r>
              <a:rPr lang="en-US" sz="1700" dirty="0"/>
              <a:t>  • 1.86 providers per 10k </a:t>
            </a:r>
          </a:p>
          <a:p>
            <a:pPr marL="0" indent="0">
              <a:buNone/>
            </a:pPr>
            <a:r>
              <a:rPr lang="en-US" sz="1700" dirty="0"/>
              <a:t>  • 11.4% poverty rate</a:t>
            </a:r>
            <a:endParaRPr lang="en-US" sz="1700" i="1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808E396-7854-274A-36F8-1AE91AF21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Kitsap County Healthcare Access Analysis • Jen Fordham • 2026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5DB0E5A-6FC2-BF2D-7ACF-77A1F20C85C0}"/>
              </a:ext>
            </a:extLst>
          </p:cNvPr>
          <p:cNvSpPr txBox="1">
            <a:spLocks/>
          </p:cNvSpPr>
          <p:nvPr/>
        </p:nvSpPr>
        <p:spPr>
          <a:xfrm>
            <a:off x="4575865" y="2706283"/>
            <a:ext cx="2964069" cy="21535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1B491D"/>
                </a:solidFill>
              </a:rPr>
              <a:t>98359 (Olalla)</a:t>
            </a:r>
          </a:p>
          <a:p>
            <a:pPr marL="0" indent="0">
              <a:buNone/>
            </a:pPr>
            <a:r>
              <a:rPr lang="en-US" sz="1800" dirty="0"/>
              <a:t>No local healthcare facilities identified</a:t>
            </a:r>
          </a:p>
          <a:p>
            <a:pPr marL="0" indent="0">
              <a:buNone/>
            </a:pPr>
            <a:r>
              <a:rPr lang="en-US" sz="1700" dirty="0"/>
              <a:t>  • Population: 4,889 </a:t>
            </a:r>
          </a:p>
          <a:p>
            <a:pPr marL="0" indent="0">
              <a:buNone/>
            </a:pPr>
            <a:r>
              <a:rPr lang="en-US" sz="1700" dirty="0"/>
              <a:t>  • 0 providers </a:t>
            </a:r>
          </a:p>
          <a:p>
            <a:pPr marL="0" indent="0">
              <a:buNone/>
            </a:pPr>
            <a:r>
              <a:rPr lang="en-US" sz="1700" dirty="0"/>
              <a:t>  • 12.3% poverty rate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033632-F5F4-4ADE-3A7D-7000404A7F4E}"/>
              </a:ext>
            </a:extLst>
          </p:cNvPr>
          <p:cNvSpPr txBox="1">
            <a:spLocks/>
          </p:cNvSpPr>
          <p:nvPr/>
        </p:nvSpPr>
        <p:spPr>
          <a:xfrm>
            <a:off x="8333098" y="2706283"/>
            <a:ext cx="3361978" cy="23483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1B491D"/>
                </a:solidFill>
              </a:rPr>
              <a:t>98637 (Port Orchard)</a:t>
            </a:r>
          </a:p>
          <a:p>
            <a:pPr marL="0" indent="0">
              <a:buNone/>
            </a:pPr>
            <a:r>
              <a:rPr lang="en-US" sz="1800" dirty="0"/>
              <a:t>Growing residential community with no healthcare facilities identified despite serving more than 31,000 residents.</a:t>
            </a:r>
          </a:p>
          <a:p>
            <a:pPr marL="0" indent="0">
              <a:buNone/>
            </a:pPr>
            <a:r>
              <a:rPr lang="en-US" sz="1700" dirty="0"/>
              <a:t>  • Population: 31,186 </a:t>
            </a:r>
          </a:p>
          <a:p>
            <a:pPr marL="0" indent="0">
              <a:buNone/>
            </a:pPr>
            <a:r>
              <a:rPr lang="en-US" sz="1700" dirty="0"/>
              <a:t>  • 0 providers</a:t>
            </a:r>
          </a:p>
          <a:p>
            <a:pPr marL="0" indent="0">
              <a:buNone/>
            </a:pPr>
            <a:r>
              <a:rPr lang="en-US" sz="1700" dirty="0"/>
              <a:t>  • 6.9% poverty rate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C66CDBE-2836-82AC-8545-5C81AD7B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053" y="276225"/>
            <a:ext cx="6769894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1B491D"/>
                </a:solidFill>
              </a:rPr>
              <a:t>Highest Priority Communities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BD5B77-44C4-6647-5E1A-39C4C0B202A8}"/>
              </a:ext>
            </a:extLst>
          </p:cNvPr>
          <p:cNvCxnSpPr>
            <a:cxnSpLocks/>
          </p:cNvCxnSpPr>
          <p:nvPr/>
        </p:nvCxnSpPr>
        <p:spPr>
          <a:xfrm>
            <a:off x="1338858" y="1449385"/>
            <a:ext cx="9514285" cy="0"/>
          </a:xfrm>
          <a:prstGeom prst="line">
            <a:avLst/>
          </a:prstGeom>
          <a:ln w="50800">
            <a:solidFill>
              <a:srgbClr val="DE6A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Document">
            <a:extLst>
              <a:ext uri="{FF2B5EF4-FFF2-40B4-BE49-F238E27FC236}">
                <a16:creationId xmlns:a16="http://schemas.microsoft.com/office/drawing/2014/main" id="{1DF9B681-D0EC-7543-D131-AE5B48359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8093" y="474023"/>
            <a:ext cx="822960" cy="8229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5E79E33-7750-B205-7749-58F4C5222EB7}"/>
              </a:ext>
            </a:extLst>
          </p:cNvPr>
          <p:cNvSpPr txBox="1"/>
          <p:nvPr/>
        </p:nvSpPr>
        <p:spPr>
          <a:xfrm>
            <a:off x="592975" y="5569728"/>
            <a:ext cx="110060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B491D"/>
                </a:solidFill>
              </a:rPr>
              <a:t>Recommendation:</a:t>
            </a:r>
            <a:r>
              <a:rPr lang="en-US" sz="2000" dirty="0">
                <a:solidFill>
                  <a:srgbClr val="1B491D"/>
                </a:solidFill>
              </a:rPr>
              <a:t> </a:t>
            </a:r>
            <a:r>
              <a:rPr lang="en-US" sz="2000" b="1" dirty="0">
                <a:solidFill>
                  <a:srgbClr val="1B491D"/>
                </a:solidFill>
              </a:rPr>
              <a:t>Further evaluate healthcare access</a:t>
            </a:r>
            <a:r>
              <a:rPr lang="en-US" sz="2000" dirty="0">
                <a:solidFill>
                  <a:srgbClr val="1B491D"/>
                </a:solidFill>
              </a:rPr>
              <a:t> by assessing travel time, provider capacity, transportation access, and other local barriers.</a:t>
            </a:r>
            <a:endParaRPr lang="en-US" sz="1950" dirty="0">
              <a:solidFill>
                <a:srgbClr val="1B491D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A2FD3-633B-B383-FCD7-CDA435B1BEA8}"/>
              </a:ext>
            </a:extLst>
          </p:cNvPr>
          <p:cNvSpPr txBox="1"/>
          <p:nvPr/>
        </p:nvSpPr>
        <p:spPr>
          <a:xfrm>
            <a:off x="455238" y="1570947"/>
            <a:ext cx="112815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The Healthcare Access Priority Model identified these three communities as the highest priorities for further investigation based on healthcare supply relative to community need.</a:t>
            </a:r>
          </a:p>
          <a:p>
            <a:pPr algn="ctr"/>
            <a:endParaRPr lang="en-US" sz="800" dirty="0"/>
          </a:p>
          <a:p>
            <a:pPr algn="ctr"/>
            <a:r>
              <a:rPr lang="en-US" sz="1400" dirty="0"/>
              <a:t>Although all three communities ranked among the highest priorities, each illustrates a different healthcare access challenge.</a:t>
            </a:r>
          </a:p>
        </p:txBody>
      </p:sp>
    </p:spTree>
    <p:extLst>
      <p:ext uri="{BB962C8B-B14F-4D97-AF65-F5344CB8AC3E}">
        <p14:creationId xmlns:p14="http://schemas.microsoft.com/office/powerpoint/2010/main" val="3161248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3E2E5-8F1D-8373-D00D-5488A73E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976" y="365125"/>
            <a:ext cx="8045824" cy="1325563"/>
          </a:xfrm>
        </p:spPr>
        <p:txBody>
          <a:bodyPr/>
          <a:lstStyle/>
          <a:p>
            <a:r>
              <a:rPr lang="en-US" dirty="0">
                <a:solidFill>
                  <a:srgbClr val="1B491D"/>
                </a:solidFill>
              </a:rPr>
              <a:t>Thank you /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7B7AF-FBA4-598A-198A-1D9ADEC5D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8082"/>
            <a:ext cx="10515600" cy="36512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B491D"/>
                </a:solidFill>
              </a:rPr>
              <a:t>Thank you for your time and feedback.</a:t>
            </a:r>
          </a:p>
          <a:p>
            <a:pPr marL="0" indent="0" algn="ctr">
              <a:buNone/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8B6B7C2-7C86-A109-6BCE-A16DF8D0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Kitsap County Healthcare Access Analysis • Jen Fordham • 2026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CA205C-19A1-43A0-49FE-2EE09CEE66B9}"/>
              </a:ext>
            </a:extLst>
          </p:cNvPr>
          <p:cNvCxnSpPr>
            <a:cxnSpLocks/>
          </p:cNvCxnSpPr>
          <p:nvPr/>
        </p:nvCxnSpPr>
        <p:spPr>
          <a:xfrm>
            <a:off x="1338858" y="1538285"/>
            <a:ext cx="9514285" cy="0"/>
          </a:xfrm>
          <a:prstGeom prst="line">
            <a:avLst/>
          </a:prstGeom>
          <a:ln w="50800">
            <a:solidFill>
              <a:srgbClr val="DE6A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854268D-1704-4F78-7955-60B7B6E5A60F}"/>
              </a:ext>
            </a:extLst>
          </p:cNvPr>
          <p:cNvSpPr txBox="1"/>
          <p:nvPr/>
        </p:nvSpPr>
        <p:spPr>
          <a:xfrm>
            <a:off x="0" y="4929101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Jen Fordham, RHIA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rgbClr val="797979"/>
                </a:solidFill>
              </a:rPr>
              <a:t>Healthcare Analytics Portfolio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July 2026</a:t>
            </a:r>
            <a:endParaRPr lang="en-US" alt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382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1004</Words>
  <Application>Microsoft Office PowerPoint</Application>
  <PresentationFormat>Widescreen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 Kitsap County Healthcare Access Analysis</vt:lpstr>
      <vt:lpstr>Project Workflow</vt:lpstr>
      <vt:lpstr>Data Sources</vt:lpstr>
      <vt:lpstr>Healthcare Access Priority Model</vt:lpstr>
      <vt:lpstr>Executive Dashboard</vt:lpstr>
      <vt:lpstr>Community Explorer</vt:lpstr>
      <vt:lpstr>Highest Priority Communities</vt:lpstr>
      <vt:lpstr>Thank you /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jencfordham@gmail.com</dc:creator>
  <cp:lastModifiedBy>jencfordham@gmail.com</cp:lastModifiedBy>
  <cp:revision>46</cp:revision>
  <cp:lastPrinted>2026-07-04T18:32:24Z</cp:lastPrinted>
  <dcterms:created xsi:type="dcterms:W3CDTF">2026-07-03T21:39:39Z</dcterms:created>
  <dcterms:modified xsi:type="dcterms:W3CDTF">2026-07-19T19:47:57Z</dcterms:modified>
</cp:coreProperties>
</file>